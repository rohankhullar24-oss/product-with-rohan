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automated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A4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Jun</c:v>
                  </c:pt>
                  <c:pt idx="1">
                    <c:v>Jul</c:v>
                  </c:pt>
                  <c:pt idx="2">
                    <c:v>Aug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91.44</c:v>
                </c:pt>
                <c:pt idx="1">
                  <c:v>92.25</c:v>
                </c:pt>
                <c:pt idx="2">
                  <c:v>96.13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F2A4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Commissions: Quarterly Progress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Q2 execution is closing out Q3's roadmap and impact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589520" y="3474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Airtel Payments Bank  |  Change the Game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3444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691640" y="123444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114800" y="123444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DELIVERED — Q2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629400" y="123444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(Q3) &amp; PROJECTED IMPACT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581912"/>
            <a:ext cx="8823960" cy="1170432"/>
          </a:xfrm>
          <a:prstGeom prst="roundRect">
            <a:avLst>
              <a:gd name="adj" fmla="val 6250"/>
            </a:avLst>
          </a:prstGeom>
          <a:solidFill>
            <a:srgbClr val="FCEED2"/>
          </a:solidFill>
          <a:ln/>
        </p:spPr>
      </p:sp>
      <p:sp>
        <p:nvSpPr>
          <p:cNvPr id="10" name="Shape 8"/>
          <p:cNvSpPr/>
          <p:nvPr/>
        </p:nvSpPr>
        <p:spPr>
          <a:xfrm>
            <a:off x="621792" y="1764792"/>
            <a:ext cx="201168" cy="201168"/>
          </a:xfrm>
          <a:prstGeom prst="ellipse">
            <a:avLst/>
          </a:prstGeom>
          <a:solidFill>
            <a:srgbClr val="C77B1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" y="2039112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691640" y="1709928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commission processing across products, cross-team payout delays, calculation-error risk, and ~30-day setup for new use cases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114800" y="1709928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₹117L+ monthly payouts automated; key products automated (Junior Suraksha, AEPS Mini Statement, Current A/c, DBT, IDC, UPI CWW); KAALIX cuts onboarding TAT 30+→10 days (67% faster)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629400" y="1709928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C77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Q3: 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Soundbox (₹8L/mo), BBPS (₹50K/mo), Debit Card for Minor (new product)
</a:t>
            </a:r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C77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₹8.5L+ in automated commission stream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843784"/>
            <a:ext cx="8823960" cy="1170432"/>
          </a:xfrm>
          <a:prstGeom prst="roundRect">
            <a:avLst>
              <a:gd name="adj" fmla="val 6250"/>
            </a:avLst>
          </a:prstGeom>
          <a:solidFill>
            <a:srgbClr val="FBE0DE"/>
          </a:solidFill>
          <a:ln/>
        </p:spPr>
      </p:sp>
      <p:sp>
        <p:nvSpPr>
          <p:cNvPr id="16" name="Shape 14"/>
          <p:cNvSpPr/>
          <p:nvPr/>
        </p:nvSpPr>
        <p:spPr>
          <a:xfrm>
            <a:off x="621792" y="3026664"/>
            <a:ext cx="201168" cy="20116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7200" y="3300984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Reconciliation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691640" y="297180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FULFILMENT_PENDING transactions required manual reconciliation, delaying payouts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114800" y="297180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FULFILMENT_PENDING reconciliation, unlocking ₹5-6L in monthly payouts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629400" y="297180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 scheduled
</a:t>
            </a:r>
            <a:pPr indent="0" marL="0">
              <a:lnSpc>
                <a:spcPct val="110000"/>
              </a:lnSpc>
              <a:buNone/>
            </a:pPr>
            <a:r>
              <a:rPr lang="en-US" sz="11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 scheduled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105656"/>
            <a:ext cx="8823960" cy="1170432"/>
          </a:xfrm>
          <a:prstGeom prst="roundRect">
            <a:avLst>
              <a:gd name="adj" fmla="val 6250"/>
            </a:avLst>
          </a:prstGeom>
          <a:solidFill>
            <a:srgbClr val="EDE4F7"/>
          </a:solidFill>
          <a:ln/>
        </p:spPr>
      </p:sp>
      <p:sp>
        <p:nvSpPr>
          <p:cNvPr id="22" name="Shape 20"/>
          <p:cNvSpPr/>
          <p:nvPr/>
        </p:nvSpPr>
        <p:spPr>
          <a:xfrm>
            <a:off x="621792" y="4288536"/>
            <a:ext cx="201168" cy="201168"/>
          </a:xfrm>
          <a:prstGeom prst="ellipse">
            <a:avLst/>
          </a:prstGeom>
          <a:solidFill>
            <a:srgbClr val="6C4BA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57200" y="4562856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 &amp; Invoicing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691640" y="4233672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GST invoice upload and limited commission-tracking visibility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4114800" y="4233672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 delivered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629400" y="4233672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6C4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Q3: 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API-based GST invoice upload on Turbo Portal; invoice status &amp; reference-number visibility on Tez for 14K+ users
</a:t>
            </a:r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6C4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Streamlines invoice processing across 14K+ users and ₹114.5Cr+ payout records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5367528"/>
            <a:ext cx="8823960" cy="1170432"/>
          </a:xfrm>
          <a:prstGeom prst="roundRect">
            <a:avLst>
              <a:gd name="adj" fmla="val 6250"/>
            </a:avLst>
          </a:prstGeom>
          <a:solidFill>
            <a:srgbClr val="DCEAFB"/>
          </a:solidFill>
          <a:ln/>
        </p:spPr>
      </p:sp>
      <p:sp>
        <p:nvSpPr>
          <p:cNvPr id="28" name="Shape 26"/>
          <p:cNvSpPr/>
          <p:nvPr/>
        </p:nvSpPr>
        <p:spPr>
          <a:xfrm>
            <a:off x="621792" y="5550408"/>
            <a:ext cx="201168" cy="201168"/>
          </a:xfrm>
          <a:prstGeom prst="ellipse">
            <a:avLst/>
          </a:prstGeom>
          <a:solidFill>
            <a:srgbClr val="2472C8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57200" y="5824728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1691640" y="5495544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commission visibility for RET/DIST users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4114800" y="5495544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 delivered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6629400" y="5495544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247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Q3: 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commission visibility at time of transaction; surface additional Prime earnings
</a:t>
            </a:r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247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 into projected, normal &amp; extra commissions before payout; fewer transparency-related escalations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9509760" y="12344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COMMISSIONS AUTOMATED</a:t>
            </a:r>
            <a:endParaRPr lang="en-US" sz="900" dirty="0"/>
          </a:p>
        </p:txBody>
      </p:sp>
      <p:graphicFrame>
        <p:nvGraphicFramePr>
          <p:cNvPr id="34" name="Chart 0" descr=""/>
          <p:cNvGraphicFramePr/>
          <p:nvPr/>
        </p:nvGraphicFramePr>
        <p:xfrm>
          <a:off x="9418320" y="1508760"/>
          <a:ext cx="242316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5" name="Shape 32"/>
          <p:cNvSpPr/>
          <p:nvPr/>
        </p:nvSpPr>
        <p:spPr>
          <a:xfrm>
            <a:off x="9509760" y="3703320"/>
            <a:ext cx="2240280" cy="841248"/>
          </a:xfrm>
          <a:prstGeom prst="roundRect">
            <a:avLst>
              <a:gd name="adj" fmla="val 8696"/>
            </a:avLst>
          </a:prstGeom>
          <a:solidFill>
            <a:srgbClr val="FCFAF8"/>
          </a:solidFill>
          <a:ln w="9525">
            <a:solidFill>
              <a:srgbClr val="EAE3D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9637776" y="3785616"/>
            <a:ext cx="1984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₹117L+</a:t>
            </a:r>
            <a:endParaRPr lang="en-US" sz="1600" dirty="0"/>
          </a:p>
        </p:txBody>
      </p:sp>
      <p:sp>
        <p:nvSpPr>
          <p:cNvPr id="37" name="Text 34"/>
          <p:cNvSpPr txBox="1"/>
          <p:nvPr/>
        </p:nvSpPr>
        <p:spPr>
          <a:xfrm>
            <a:off x="9637776" y="4069080"/>
            <a:ext cx="1984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monthly commission payouts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9509760" y="4672584"/>
            <a:ext cx="2240280" cy="841248"/>
          </a:xfrm>
          <a:prstGeom prst="roundRect">
            <a:avLst>
              <a:gd name="adj" fmla="val 8696"/>
            </a:avLst>
          </a:prstGeom>
          <a:solidFill>
            <a:srgbClr val="FCFAF8"/>
          </a:solidFill>
          <a:ln w="9525">
            <a:solidFill>
              <a:srgbClr val="EAE3D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9637776" y="4754880"/>
            <a:ext cx="1984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30+→10 days</a:t>
            </a:r>
            <a:endParaRPr lang="en-US" sz="1600" dirty="0"/>
          </a:p>
        </p:txBody>
      </p:sp>
      <p:sp>
        <p:nvSpPr>
          <p:cNvPr id="40" name="Text 37"/>
          <p:cNvSpPr txBox="1"/>
          <p:nvPr/>
        </p:nvSpPr>
        <p:spPr>
          <a:xfrm>
            <a:off x="9637776" y="5038344"/>
            <a:ext cx="1984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TAT for new commission use cases (67% faster)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9509760" y="5641848"/>
            <a:ext cx="2240280" cy="841248"/>
          </a:xfrm>
          <a:prstGeom prst="roundRect">
            <a:avLst>
              <a:gd name="adj" fmla="val 8696"/>
            </a:avLst>
          </a:prstGeom>
          <a:solidFill>
            <a:srgbClr val="FCFAF8"/>
          </a:solidFill>
          <a:ln w="9525">
            <a:solidFill>
              <a:srgbClr val="EAE3DA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9637776" y="5724144"/>
            <a:ext cx="1984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₹5-6L</a:t>
            </a:r>
            <a:endParaRPr lang="en-US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9637776" y="6007608"/>
            <a:ext cx="1984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payouts unlocked via reconciliation automation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2026-09-17T09:15:45Z</dcterms:created>
  <dcterms:modified xsi:type="dcterms:W3CDTF">2026-09-17T09:15:45Z</dcterms:modified>
</cp:coreProperties>
</file>